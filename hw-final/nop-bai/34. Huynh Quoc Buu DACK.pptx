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99" r:id="rId7"/>
    <p:sldId id="300" r:id="rId8"/>
    <p:sldId id="301" r:id="rId9"/>
    <p:sldId id="303" r:id="rId10"/>
    <p:sldId id="304" r:id="rId11"/>
    <p:sldId id="305" r:id="rId12"/>
    <p:sldId id="306" r:id="rId13"/>
    <p:sldId id="307" r:id="rId14"/>
    <p:sldId id="309" r:id="rId15"/>
    <p:sldId id="308" r:id="rId16"/>
    <p:sldId id="302" r:id="rId17"/>
    <p:sldId id="29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5646" autoAdjust="0"/>
  </p:normalViewPr>
  <p:slideViewPr>
    <p:cSldViewPr snapToGrid="0">
      <p:cViewPr varScale="1">
        <p:scale>
          <a:sx n="122" d="100"/>
          <a:sy n="122" d="100"/>
        </p:scale>
        <p:origin x="712" y="200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7/10/25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uhq-it/uit-msc-data-analyst-assignments/tree/main/hw-final/cod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s.org/publ/bcbs189.ht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413" y="751073"/>
            <a:ext cx="10364107" cy="3830130"/>
          </a:xfrm>
        </p:spPr>
        <p:txBody>
          <a:bodyPr/>
          <a:lstStyle/>
          <a:p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đoán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trích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40CFF-20A2-A1AC-FEBB-D882E692533B}"/>
              </a:ext>
            </a:extLst>
          </p:cNvPr>
          <p:cNvSpPr txBox="1"/>
          <p:nvPr/>
        </p:nvSpPr>
        <p:spPr>
          <a:xfrm>
            <a:off x="7670800" y="6106927"/>
            <a:ext cx="355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 Quốc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Bữu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43588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FontTx/>
              <a:buChar char="-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Tóm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tắt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thiệu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nghị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vọng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 (Expected Loss)</a:t>
            </a: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Cài đặt mô hình (Code demo)</a:t>
            </a:r>
          </a:p>
          <a:p>
            <a:pPr marL="457200" indent="-457200">
              <a:buFontTx/>
              <a:buChar char="-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1059-F185-61D5-004C-2C0C71DC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-10511"/>
            <a:ext cx="9779183" cy="1478574"/>
          </a:xfrm>
        </p:spPr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Tóm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tắt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5991C-5969-A2F3-41BE-8A748343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720" y="1758971"/>
            <a:ext cx="9779182" cy="4410604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vi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 định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vi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lượng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trích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cốt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lõi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en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 xác định điểm tín dụng sẽ gặp khó khăn khi khách hàng chưa có lịch sử tín dụng</a:t>
            </a:r>
          </a:p>
          <a:p>
            <a:pPr marL="457200" indent="-457200">
              <a:buFontTx/>
              <a:buChar char="-"/>
            </a:pPr>
            <a:r>
              <a:rPr lang="vi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 các mô hình dự báo xác suất để qui đổi xác xuất PD thành điểm tín dụng từ 300-850 và các tổn thất kỳ vọng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(Expected Loss – EL) </a:t>
            </a:r>
            <a:r>
              <a:rPr lang="vi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 dự báo điểm tín dụng và ước lượng trích lập dự phòng.</a:t>
            </a:r>
          </a:p>
          <a:p>
            <a:pPr marL="457200" indent="-457200">
              <a:buFontTx/>
              <a:buChar char="-"/>
            </a:pPr>
            <a:r>
              <a:rPr lang="vi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mô hình sử dụng là: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 Regression,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LightGBM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XGBoost</a:t>
            </a:r>
            <a:r>
              <a:rPr lang="en-V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68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E9EB4-A74E-3176-986F-E9EB3007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0"/>
            <a:ext cx="9779183" cy="1121222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 thiệu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9066-7653-3A01-1AF0-C9D5B8FB0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1271231"/>
            <a:ext cx="9779182" cy="4572520"/>
          </a:xfrm>
        </p:spPr>
        <p:txBody>
          <a:bodyPr>
            <a:noAutofit/>
          </a:bodyPr>
          <a:lstStyle/>
          <a:p>
            <a:pPr marL="457200" indent="-457200">
              <a:buFontTx/>
              <a:buChar char="-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Home Credit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phối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Kaggle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cuộc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“Home Credit Default Risk”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2018</a:t>
            </a:r>
            <a:r>
              <a:rPr lang="en-V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cung cấp bộ Dataset [1] với các góc nhìn đa chiều để thu hút công đồng Kaggle đóng góp thêm các giải pháp khai thác data hiệu quả.</a:t>
            </a:r>
          </a:p>
          <a:p>
            <a:pPr marL="457200" indent="-457200">
              <a:buFontTx/>
              <a:buChar char="-"/>
            </a:pPr>
            <a:r>
              <a:rPr lang="en-V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 bộ dataset này,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đồ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đoán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(credit score)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trích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machine learning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XGBoost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LightGBM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Logistic Regression. </a:t>
            </a:r>
          </a:p>
          <a:p>
            <a:pPr marL="457200" indent="-457200">
              <a:buFontTx/>
              <a:buChar char="-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Đồ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đoán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Probability of Default – PD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thất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vọng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(Expected Loss)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trích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Probability of Default – PD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tỷ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lệ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Given Default – LGD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dư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Exposure At Default – EAD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V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vọng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giúp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tiềm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soát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rủi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quyết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V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855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22C3-112E-0C76-2879-F8D77598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08" y="136634"/>
            <a:ext cx="9779183" cy="1089692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nghiên cứu có liên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EA38-5C2B-49EA-EA5B-F70EF411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6" y="1429407"/>
            <a:ext cx="9779182" cy="4519447"/>
          </a:xfrm>
        </p:spPr>
        <p:txBody>
          <a:bodyPr>
            <a:normAutofit fontScale="32500" lnSpcReduction="20000"/>
          </a:bodyPr>
          <a:lstStyle/>
          <a:p>
            <a:pPr marL="457200" indent="-457200">
              <a:buFontTx/>
              <a:buChar char="-"/>
            </a:pPr>
            <a:r>
              <a:rPr lang="en-US" sz="6800" dirty="0"/>
              <a:t>Markov et al. (2022) </a:t>
            </a:r>
            <a:r>
              <a:rPr lang="en-US" sz="6800" dirty="0" err="1"/>
              <a:t>đã</a:t>
            </a:r>
            <a:r>
              <a:rPr lang="en-US" sz="6800" dirty="0"/>
              <a:t> </a:t>
            </a:r>
            <a:r>
              <a:rPr lang="en-US" sz="6800" dirty="0" err="1"/>
              <a:t>thực</a:t>
            </a:r>
            <a:r>
              <a:rPr lang="en-US" sz="6800" dirty="0"/>
              <a:t> </a:t>
            </a:r>
            <a:r>
              <a:rPr lang="en-US" sz="6800" dirty="0" err="1"/>
              <a:t>hiện</a:t>
            </a:r>
            <a:r>
              <a:rPr lang="en-US" sz="6800" dirty="0"/>
              <a:t> </a:t>
            </a:r>
            <a:r>
              <a:rPr lang="en-US" sz="6800" dirty="0" err="1"/>
              <a:t>một</a:t>
            </a:r>
            <a:r>
              <a:rPr lang="en-US" sz="6800" dirty="0"/>
              <a:t> </a:t>
            </a:r>
            <a:r>
              <a:rPr lang="en-US" sz="6800" dirty="0" err="1"/>
              <a:t>khảo</a:t>
            </a:r>
            <a:r>
              <a:rPr lang="en-US" sz="6800" dirty="0"/>
              <a:t> </a:t>
            </a:r>
            <a:r>
              <a:rPr lang="en-US" sz="6800" dirty="0" err="1"/>
              <a:t>sát</a:t>
            </a:r>
            <a:r>
              <a:rPr lang="en-US" sz="6800" dirty="0"/>
              <a:t> </a:t>
            </a:r>
            <a:r>
              <a:rPr lang="en-US" sz="6800" dirty="0" err="1"/>
              <a:t>hệ</a:t>
            </a:r>
            <a:r>
              <a:rPr lang="en-US" sz="6800" dirty="0"/>
              <a:t> </a:t>
            </a:r>
            <a:r>
              <a:rPr lang="en-US" sz="6800" dirty="0" err="1"/>
              <a:t>thống</a:t>
            </a:r>
            <a:r>
              <a:rPr lang="en-US" sz="6800" dirty="0"/>
              <a:t> </a:t>
            </a:r>
            <a:r>
              <a:rPr lang="en-US" sz="6800" dirty="0" err="1"/>
              <a:t>về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</a:t>
            </a:r>
            <a:r>
              <a:rPr lang="en-US" sz="6800" dirty="0" err="1"/>
              <a:t>phương</a:t>
            </a:r>
            <a:r>
              <a:rPr lang="en-US" sz="6800" dirty="0"/>
              <a:t> </a:t>
            </a:r>
            <a:r>
              <a:rPr lang="en-US" sz="6800" dirty="0" err="1"/>
              <a:t>pháp</a:t>
            </a:r>
            <a:r>
              <a:rPr lang="en-US" sz="6800" dirty="0"/>
              <a:t> </a:t>
            </a:r>
            <a:r>
              <a:rPr lang="en-US" sz="6800" dirty="0" err="1"/>
              <a:t>chấm</a:t>
            </a:r>
            <a:r>
              <a:rPr lang="en-US" sz="6800" dirty="0"/>
              <a:t> </a:t>
            </a:r>
            <a:r>
              <a:rPr lang="en-US" sz="6800" dirty="0" err="1"/>
              <a:t>điểm</a:t>
            </a:r>
            <a:r>
              <a:rPr lang="en-US" sz="6800" dirty="0"/>
              <a:t> </a:t>
            </a:r>
            <a:r>
              <a:rPr lang="en-US" sz="6800" dirty="0" err="1"/>
              <a:t>tín</a:t>
            </a:r>
            <a:r>
              <a:rPr lang="en-US" sz="6800" dirty="0"/>
              <a:t> </a:t>
            </a:r>
            <a:r>
              <a:rPr lang="en-US" sz="6800" dirty="0" err="1"/>
              <a:t>dụng</a:t>
            </a:r>
            <a:r>
              <a:rPr lang="en-US" sz="6800" dirty="0"/>
              <a:t> </a:t>
            </a:r>
            <a:r>
              <a:rPr lang="en-US" sz="6800" dirty="0" err="1"/>
              <a:t>trong</a:t>
            </a:r>
            <a:r>
              <a:rPr lang="en-US" sz="6800" dirty="0"/>
              <a:t> </a:t>
            </a:r>
            <a:r>
              <a:rPr lang="en-US" sz="6800" dirty="0" err="1"/>
              <a:t>giai</a:t>
            </a:r>
            <a:r>
              <a:rPr lang="en-US" sz="6800" dirty="0"/>
              <a:t> </a:t>
            </a:r>
            <a:r>
              <a:rPr lang="en-US" sz="6800" dirty="0" err="1"/>
              <a:t>đoạn</a:t>
            </a:r>
            <a:r>
              <a:rPr lang="en-US" sz="6800" dirty="0"/>
              <a:t> 2016–2021, </a:t>
            </a:r>
            <a:r>
              <a:rPr lang="en-US" sz="6800" dirty="0" err="1"/>
              <a:t>phân</a:t>
            </a:r>
            <a:r>
              <a:rPr lang="en-US" sz="6800" dirty="0"/>
              <a:t> </a:t>
            </a:r>
            <a:r>
              <a:rPr lang="en-US" sz="6800" dirty="0" err="1"/>
              <a:t>tích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xu </a:t>
            </a:r>
            <a:r>
              <a:rPr lang="en-US" sz="6800" dirty="0" err="1"/>
              <a:t>hướng</a:t>
            </a:r>
            <a:r>
              <a:rPr lang="en-US" sz="6800" dirty="0"/>
              <a:t> </a:t>
            </a:r>
            <a:r>
              <a:rPr lang="en-US" sz="6800" dirty="0" err="1"/>
              <a:t>nổi</a:t>
            </a:r>
            <a:r>
              <a:rPr lang="en-US" sz="6800" dirty="0"/>
              <a:t> </a:t>
            </a:r>
            <a:r>
              <a:rPr lang="en-US" sz="6800" dirty="0" err="1"/>
              <a:t>bật</a:t>
            </a:r>
            <a:r>
              <a:rPr lang="en-US" sz="6800" dirty="0"/>
              <a:t> </a:t>
            </a:r>
            <a:r>
              <a:rPr lang="en-US" sz="6800" dirty="0" err="1"/>
              <a:t>về</a:t>
            </a:r>
            <a:r>
              <a:rPr lang="en-US" sz="6800" dirty="0"/>
              <a:t> </a:t>
            </a:r>
            <a:r>
              <a:rPr lang="en-US" sz="6800" dirty="0" err="1"/>
              <a:t>cấu</a:t>
            </a:r>
            <a:r>
              <a:rPr lang="en-US" sz="6800" dirty="0"/>
              <a:t> </a:t>
            </a:r>
            <a:r>
              <a:rPr lang="en-US" sz="6800" dirty="0" err="1"/>
              <a:t>trúc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, </a:t>
            </a:r>
            <a:r>
              <a:rPr lang="en-US" sz="6800" dirty="0" err="1"/>
              <a:t>kỹ</a:t>
            </a:r>
            <a:r>
              <a:rPr lang="en-US" sz="6800" dirty="0"/>
              <a:t> </a:t>
            </a:r>
            <a:r>
              <a:rPr lang="en-US" sz="6800" dirty="0" err="1"/>
              <a:t>thuật</a:t>
            </a:r>
            <a:r>
              <a:rPr lang="en-US" sz="6800" dirty="0"/>
              <a:t> </a:t>
            </a:r>
            <a:r>
              <a:rPr lang="en-US" sz="6800" dirty="0" err="1"/>
              <a:t>lựa</a:t>
            </a:r>
            <a:r>
              <a:rPr lang="en-US" sz="6800" dirty="0"/>
              <a:t> </a:t>
            </a:r>
            <a:r>
              <a:rPr lang="en-US" sz="6800" dirty="0" err="1"/>
              <a:t>chọn</a:t>
            </a:r>
            <a:r>
              <a:rPr lang="en-US" sz="6800" dirty="0"/>
              <a:t> </a:t>
            </a:r>
            <a:r>
              <a:rPr lang="en-US" sz="6800" dirty="0" err="1"/>
              <a:t>đặc</a:t>
            </a:r>
            <a:r>
              <a:rPr lang="en-US" sz="6800" dirty="0"/>
              <a:t> </a:t>
            </a:r>
            <a:r>
              <a:rPr lang="en-US" sz="6800" dirty="0" err="1"/>
              <a:t>trưng</a:t>
            </a:r>
            <a:r>
              <a:rPr lang="en-US" sz="6800" dirty="0"/>
              <a:t> </a:t>
            </a:r>
            <a:r>
              <a:rPr lang="en-US" sz="6800" dirty="0" err="1"/>
              <a:t>và</a:t>
            </a:r>
            <a:r>
              <a:rPr lang="en-US" sz="6800" dirty="0"/>
              <a:t> </a:t>
            </a:r>
            <a:r>
              <a:rPr lang="en-US" sz="6800" dirty="0" err="1"/>
              <a:t>đánh</a:t>
            </a:r>
            <a:r>
              <a:rPr lang="en-US" sz="6800" dirty="0"/>
              <a:t> </a:t>
            </a:r>
            <a:r>
              <a:rPr lang="en-US" sz="6800" dirty="0" err="1"/>
              <a:t>giá</a:t>
            </a:r>
            <a:r>
              <a:rPr lang="en-US" sz="6800" dirty="0"/>
              <a:t> </a:t>
            </a:r>
            <a:r>
              <a:rPr lang="en-US" sz="6800" dirty="0" err="1"/>
              <a:t>hiệu</a:t>
            </a:r>
            <a:r>
              <a:rPr lang="en-US" sz="6800" dirty="0"/>
              <a:t> </a:t>
            </a:r>
            <a:r>
              <a:rPr lang="en-US" sz="6800" dirty="0" err="1"/>
              <a:t>suất</a:t>
            </a:r>
            <a:r>
              <a:rPr lang="en-US" sz="6800" dirty="0"/>
              <a:t>. </a:t>
            </a:r>
            <a:r>
              <a:rPr lang="en-US" sz="6800" dirty="0" err="1"/>
              <a:t>Nghiên</a:t>
            </a:r>
            <a:r>
              <a:rPr lang="en-US" sz="6800" dirty="0"/>
              <a:t> </a:t>
            </a:r>
            <a:r>
              <a:rPr lang="en-US" sz="6800" dirty="0" err="1"/>
              <a:t>cứu</a:t>
            </a:r>
            <a:r>
              <a:rPr lang="en-US" sz="6800" dirty="0"/>
              <a:t> </a:t>
            </a:r>
            <a:r>
              <a:rPr lang="en-US" sz="6800" dirty="0" err="1"/>
              <a:t>chỉ</a:t>
            </a:r>
            <a:r>
              <a:rPr lang="en-US" sz="6800" dirty="0"/>
              <a:t> </a:t>
            </a:r>
            <a:r>
              <a:rPr lang="en-US" sz="6800" dirty="0" err="1"/>
              <a:t>ra</a:t>
            </a:r>
            <a:r>
              <a:rPr lang="en-US" sz="6800" dirty="0"/>
              <a:t> </a:t>
            </a:r>
            <a:r>
              <a:rPr lang="en-US" sz="6800" dirty="0" err="1"/>
              <a:t>rằng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</a:t>
            </a:r>
            <a:r>
              <a:rPr lang="en-US" sz="6800" dirty="0" err="1"/>
              <a:t>thuật</a:t>
            </a:r>
            <a:r>
              <a:rPr lang="en-US" sz="6800" dirty="0"/>
              <a:t> </a:t>
            </a:r>
            <a:r>
              <a:rPr lang="en-US" sz="6800" dirty="0" err="1"/>
              <a:t>toán</a:t>
            </a:r>
            <a:r>
              <a:rPr lang="en-US" sz="6800" dirty="0"/>
              <a:t> boosting </a:t>
            </a:r>
            <a:r>
              <a:rPr lang="en-US" sz="6800" dirty="0" err="1"/>
              <a:t>như</a:t>
            </a:r>
            <a:r>
              <a:rPr lang="en-US" sz="6800" dirty="0"/>
              <a:t> </a:t>
            </a:r>
            <a:r>
              <a:rPr lang="en-US" sz="6800" dirty="0" err="1"/>
              <a:t>XGBoost</a:t>
            </a:r>
            <a:r>
              <a:rPr lang="en-US" sz="6800" dirty="0"/>
              <a:t> </a:t>
            </a:r>
            <a:r>
              <a:rPr lang="en-US" sz="6800" dirty="0" err="1"/>
              <a:t>và</a:t>
            </a:r>
            <a:r>
              <a:rPr lang="en-US" sz="6800" dirty="0"/>
              <a:t> </a:t>
            </a:r>
            <a:r>
              <a:rPr lang="en-US" sz="6800" dirty="0" err="1"/>
              <a:t>LightGBM</a:t>
            </a:r>
            <a:r>
              <a:rPr lang="en-US" sz="6800" dirty="0"/>
              <a:t> </a:t>
            </a:r>
            <a:r>
              <a:rPr lang="en-US" sz="6800" dirty="0" err="1"/>
              <a:t>đang</a:t>
            </a:r>
            <a:r>
              <a:rPr lang="en-US" sz="6800" dirty="0"/>
              <a:t> </a:t>
            </a:r>
            <a:r>
              <a:rPr lang="en-US" sz="6800" dirty="0" err="1"/>
              <a:t>dần</a:t>
            </a:r>
            <a:r>
              <a:rPr lang="en-US" sz="6800" dirty="0"/>
              <a:t> </a:t>
            </a:r>
            <a:r>
              <a:rPr lang="en-US" sz="6800" dirty="0" err="1"/>
              <a:t>thay</a:t>
            </a:r>
            <a:r>
              <a:rPr lang="en-US" sz="6800" dirty="0"/>
              <a:t> </a:t>
            </a:r>
            <a:r>
              <a:rPr lang="en-US" sz="6800" dirty="0" err="1"/>
              <a:t>thế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</a:t>
            </a:r>
            <a:r>
              <a:rPr lang="en-US" sz="6800" dirty="0" err="1"/>
              <a:t>thống</a:t>
            </a:r>
            <a:r>
              <a:rPr lang="en-US" sz="6800" dirty="0"/>
              <a:t> </a:t>
            </a:r>
            <a:r>
              <a:rPr lang="en-US" sz="6800" dirty="0" err="1"/>
              <a:t>kê</a:t>
            </a:r>
            <a:r>
              <a:rPr lang="en-US" sz="6800" dirty="0"/>
              <a:t> </a:t>
            </a:r>
            <a:r>
              <a:rPr lang="en-US" sz="6800" dirty="0" err="1"/>
              <a:t>truyền</a:t>
            </a:r>
            <a:r>
              <a:rPr lang="en-US" sz="6800" dirty="0"/>
              <a:t> </a:t>
            </a:r>
            <a:r>
              <a:rPr lang="en-US" sz="6800" dirty="0" err="1"/>
              <a:t>thống</a:t>
            </a:r>
            <a:r>
              <a:rPr lang="en-US" sz="6800" dirty="0"/>
              <a:t> </a:t>
            </a:r>
            <a:r>
              <a:rPr lang="en-US" sz="6800" dirty="0" err="1"/>
              <a:t>như</a:t>
            </a:r>
            <a:r>
              <a:rPr lang="en-US" sz="6800" dirty="0"/>
              <a:t> Logistic Regression </a:t>
            </a:r>
            <a:r>
              <a:rPr lang="en-US" sz="6800" dirty="0" err="1"/>
              <a:t>trong</a:t>
            </a:r>
            <a:r>
              <a:rPr lang="en-US" sz="6800" dirty="0"/>
              <a:t> </a:t>
            </a:r>
            <a:r>
              <a:rPr lang="en-US" sz="6800" dirty="0" err="1"/>
              <a:t>bối</a:t>
            </a:r>
            <a:r>
              <a:rPr lang="en-US" sz="6800" dirty="0"/>
              <a:t> </a:t>
            </a:r>
            <a:r>
              <a:rPr lang="en-US" sz="6800" dirty="0" err="1"/>
              <a:t>cảnh</a:t>
            </a:r>
            <a:r>
              <a:rPr lang="en-US" sz="6800" dirty="0"/>
              <a:t> </a:t>
            </a:r>
            <a:r>
              <a:rPr lang="en-US" sz="6800" dirty="0" err="1"/>
              <a:t>dữ</a:t>
            </a:r>
            <a:r>
              <a:rPr lang="en-US" sz="6800" dirty="0"/>
              <a:t> </a:t>
            </a:r>
            <a:r>
              <a:rPr lang="en-US" sz="6800" dirty="0" err="1"/>
              <a:t>liệu</a:t>
            </a:r>
            <a:r>
              <a:rPr lang="en-US" sz="6800" dirty="0"/>
              <a:t> </a:t>
            </a:r>
            <a:r>
              <a:rPr lang="en-US" sz="6800" dirty="0" err="1"/>
              <a:t>lớn</a:t>
            </a:r>
            <a:r>
              <a:rPr lang="en-US" sz="6800" dirty="0"/>
              <a:t> </a:t>
            </a:r>
            <a:r>
              <a:rPr lang="en-US" sz="6800" dirty="0" err="1"/>
              <a:t>và</a:t>
            </a:r>
            <a:r>
              <a:rPr lang="en-US" sz="6800" dirty="0"/>
              <a:t> </a:t>
            </a:r>
            <a:r>
              <a:rPr lang="en-US" sz="6800" dirty="0" err="1"/>
              <a:t>phức</a:t>
            </a:r>
            <a:r>
              <a:rPr lang="en-US" sz="6800" dirty="0"/>
              <a:t> </a:t>
            </a:r>
            <a:r>
              <a:rPr lang="en-US" sz="6800" dirty="0" err="1"/>
              <a:t>tạp</a:t>
            </a:r>
            <a:r>
              <a:rPr lang="en-US" sz="6800" dirty="0"/>
              <a:t> [2].</a:t>
            </a:r>
          </a:p>
          <a:p>
            <a:pPr marL="457200" indent="-457200">
              <a:buFontTx/>
              <a:buChar char="-"/>
            </a:pPr>
            <a:r>
              <a:rPr lang="en-US" sz="6800" dirty="0" err="1"/>
              <a:t>Mohammadnejad</a:t>
            </a:r>
            <a:r>
              <a:rPr lang="en-US" sz="6800" dirty="0"/>
              <a:t>-Daryani et al. (2024) </a:t>
            </a:r>
            <a:r>
              <a:rPr lang="en-US" sz="6800" dirty="0" err="1"/>
              <a:t>đề</a:t>
            </a:r>
            <a:r>
              <a:rPr lang="en-US" sz="6800" dirty="0"/>
              <a:t> </a:t>
            </a:r>
            <a:r>
              <a:rPr lang="en-US" sz="6800" dirty="0" err="1"/>
              <a:t>xuất</a:t>
            </a:r>
            <a:r>
              <a:rPr lang="en-US" sz="6800" dirty="0"/>
              <a:t> </a:t>
            </a:r>
            <a:r>
              <a:rPr lang="en-US" sz="6800" dirty="0" err="1"/>
              <a:t>một</a:t>
            </a:r>
            <a:r>
              <a:rPr lang="en-US" sz="6800" dirty="0"/>
              <a:t> </a:t>
            </a:r>
            <a:r>
              <a:rPr lang="en-US" sz="6800" dirty="0" err="1"/>
              <a:t>khung</a:t>
            </a:r>
            <a:r>
              <a:rPr lang="en-US" sz="6800" dirty="0"/>
              <a:t> </a:t>
            </a:r>
            <a:r>
              <a:rPr lang="en-US" sz="6800" dirty="0" err="1"/>
              <a:t>đánh</a:t>
            </a:r>
            <a:r>
              <a:rPr lang="en-US" sz="6800" dirty="0"/>
              <a:t> </a:t>
            </a:r>
            <a:r>
              <a:rPr lang="en-US" sz="6800" dirty="0" err="1"/>
              <a:t>giá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</a:t>
            </a:r>
            <a:r>
              <a:rPr lang="en-US" sz="6800" dirty="0" err="1"/>
              <a:t>mới</a:t>
            </a:r>
            <a:r>
              <a:rPr lang="en-US" sz="6800" dirty="0"/>
              <a:t> </a:t>
            </a:r>
            <a:r>
              <a:rPr lang="en-US" sz="6800" dirty="0" err="1"/>
              <a:t>dựa</a:t>
            </a:r>
            <a:r>
              <a:rPr lang="en-US" sz="6800" dirty="0"/>
              <a:t> </a:t>
            </a:r>
            <a:r>
              <a:rPr lang="en-US" sz="6800" dirty="0" err="1"/>
              <a:t>trên</a:t>
            </a:r>
            <a:r>
              <a:rPr lang="en-US" sz="6800" dirty="0"/>
              <a:t> </a:t>
            </a:r>
            <a:r>
              <a:rPr lang="en-US" sz="6800" dirty="0" err="1"/>
              <a:t>tỷ</a:t>
            </a:r>
            <a:r>
              <a:rPr lang="en-US" sz="6800" dirty="0"/>
              <a:t> </a:t>
            </a:r>
            <a:r>
              <a:rPr lang="en-US" sz="6800" dirty="0" err="1"/>
              <a:t>suất</a:t>
            </a:r>
            <a:r>
              <a:rPr lang="en-US" sz="6800" dirty="0"/>
              <a:t> </a:t>
            </a:r>
            <a:r>
              <a:rPr lang="en-US" sz="6800" dirty="0" err="1"/>
              <a:t>lợi</a:t>
            </a:r>
            <a:r>
              <a:rPr lang="en-US" sz="6800" dirty="0"/>
              <a:t> </a:t>
            </a:r>
            <a:r>
              <a:rPr lang="en-US" sz="6800" dirty="0" err="1"/>
              <a:t>nhuận</a:t>
            </a:r>
            <a:r>
              <a:rPr lang="en-US" sz="6800" dirty="0"/>
              <a:t> </a:t>
            </a:r>
            <a:r>
              <a:rPr lang="en-US" sz="6800" dirty="0" err="1"/>
              <a:t>kỳ</a:t>
            </a:r>
            <a:r>
              <a:rPr lang="en-US" sz="6800" dirty="0"/>
              <a:t> </a:t>
            </a:r>
            <a:r>
              <a:rPr lang="en-US" sz="6800" dirty="0" err="1"/>
              <a:t>vọng</a:t>
            </a:r>
            <a:r>
              <a:rPr lang="en-US" sz="6800" dirty="0"/>
              <a:t> – </a:t>
            </a:r>
            <a:r>
              <a:rPr lang="en-US" sz="6800" b="1" dirty="0"/>
              <a:t>Expected Profit Ratio (EPR)</a:t>
            </a:r>
            <a:r>
              <a:rPr lang="en-US" sz="6800" dirty="0"/>
              <a:t> – </a:t>
            </a:r>
            <a:r>
              <a:rPr lang="en-US" sz="6800" dirty="0" err="1"/>
              <a:t>cho</a:t>
            </a:r>
            <a:r>
              <a:rPr lang="en-US" sz="6800" dirty="0"/>
              <a:t> </a:t>
            </a:r>
            <a:r>
              <a:rPr lang="en-US" sz="6800" dirty="0" err="1"/>
              <a:t>phép</a:t>
            </a:r>
            <a:r>
              <a:rPr lang="en-US" sz="6800" dirty="0"/>
              <a:t> </a:t>
            </a:r>
            <a:r>
              <a:rPr lang="en-US" sz="6800" dirty="0" err="1"/>
              <a:t>lượng</a:t>
            </a:r>
            <a:r>
              <a:rPr lang="en-US" sz="6800" dirty="0"/>
              <a:t> </a:t>
            </a:r>
            <a:r>
              <a:rPr lang="en-US" sz="6800" dirty="0" err="1"/>
              <a:t>hóa</a:t>
            </a:r>
            <a:r>
              <a:rPr lang="en-US" sz="6800" dirty="0"/>
              <a:t> </a:t>
            </a:r>
            <a:r>
              <a:rPr lang="en-US" sz="6800" dirty="0" err="1"/>
              <a:t>hiệu</a:t>
            </a:r>
            <a:r>
              <a:rPr lang="en-US" sz="6800" dirty="0"/>
              <a:t> </a:t>
            </a:r>
            <a:r>
              <a:rPr lang="en-US" sz="6800" dirty="0" err="1"/>
              <a:t>quả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</a:t>
            </a:r>
            <a:r>
              <a:rPr lang="en-US" sz="6800" dirty="0" err="1"/>
              <a:t>không</a:t>
            </a:r>
            <a:r>
              <a:rPr lang="en-US" sz="6800" dirty="0"/>
              <a:t> </a:t>
            </a:r>
            <a:r>
              <a:rPr lang="en-US" sz="6800" dirty="0" err="1"/>
              <a:t>chỉ</a:t>
            </a:r>
            <a:r>
              <a:rPr lang="en-US" sz="6800" dirty="0"/>
              <a:t> </a:t>
            </a:r>
            <a:r>
              <a:rPr lang="en-US" sz="6800" dirty="0" err="1"/>
              <a:t>dựa</a:t>
            </a:r>
            <a:r>
              <a:rPr lang="en-US" sz="6800" dirty="0"/>
              <a:t> </a:t>
            </a:r>
            <a:r>
              <a:rPr lang="en-US" sz="6800" dirty="0" err="1"/>
              <a:t>trên</a:t>
            </a:r>
            <a:r>
              <a:rPr lang="en-US" sz="6800" dirty="0"/>
              <a:t> </a:t>
            </a:r>
            <a:r>
              <a:rPr lang="en-US" sz="6800" dirty="0" err="1"/>
              <a:t>độ</a:t>
            </a:r>
            <a:r>
              <a:rPr lang="en-US" sz="6800" dirty="0"/>
              <a:t> </a:t>
            </a:r>
            <a:r>
              <a:rPr lang="en-US" sz="6800" dirty="0" err="1"/>
              <a:t>chính</a:t>
            </a:r>
            <a:r>
              <a:rPr lang="en-US" sz="6800" dirty="0"/>
              <a:t> </a:t>
            </a:r>
            <a:r>
              <a:rPr lang="en-US" sz="6800" dirty="0" err="1"/>
              <a:t>xác</a:t>
            </a:r>
            <a:r>
              <a:rPr lang="en-US" sz="6800" dirty="0"/>
              <a:t> (AUC) </a:t>
            </a:r>
            <a:r>
              <a:rPr lang="en-US" sz="6800" dirty="0" err="1"/>
              <a:t>mà</a:t>
            </a:r>
            <a:r>
              <a:rPr lang="en-US" sz="6800" dirty="0"/>
              <a:t> </a:t>
            </a:r>
            <a:r>
              <a:rPr lang="en-US" sz="6800" dirty="0" err="1"/>
              <a:t>còn</a:t>
            </a:r>
            <a:r>
              <a:rPr lang="en-US" sz="6800" dirty="0"/>
              <a:t> </a:t>
            </a:r>
            <a:r>
              <a:rPr lang="en-US" sz="6800" dirty="0" err="1"/>
              <a:t>dựa</a:t>
            </a:r>
            <a:r>
              <a:rPr lang="en-US" sz="6800" dirty="0"/>
              <a:t> </a:t>
            </a:r>
            <a:r>
              <a:rPr lang="en-US" sz="6800" dirty="0" err="1"/>
              <a:t>trên</a:t>
            </a:r>
            <a:r>
              <a:rPr lang="en-US" sz="6800" dirty="0"/>
              <a:t> </a:t>
            </a:r>
            <a:r>
              <a:rPr lang="en-US" sz="6800" dirty="0" err="1"/>
              <a:t>giá</a:t>
            </a:r>
            <a:r>
              <a:rPr lang="en-US" sz="6800" dirty="0"/>
              <a:t> </a:t>
            </a:r>
            <a:r>
              <a:rPr lang="en-US" sz="6800" dirty="0" err="1"/>
              <a:t>trị</a:t>
            </a:r>
            <a:r>
              <a:rPr lang="en-US" sz="6800" dirty="0"/>
              <a:t> </a:t>
            </a:r>
            <a:r>
              <a:rPr lang="en-US" sz="6800" dirty="0" err="1"/>
              <a:t>kinh</a:t>
            </a:r>
            <a:r>
              <a:rPr lang="en-US" sz="6800" dirty="0"/>
              <a:t> </a:t>
            </a:r>
            <a:r>
              <a:rPr lang="en-US" sz="6800" dirty="0" err="1"/>
              <a:t>tế</a:t>
            </a:r>
            <a:r>
              <a:rPr lang="en-US" sz="6800" dirty="0"/>
              <a:t> </a:t>
            </a:r>
            <a:r>
              <a:rPr lang="en-US" sz="6800" dirty="0" err="1"/>
              <a:t>mà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</a:t>
            </a:r>
            <a:r>
              <a:rPr lang="en-US" sz="6800" dirty="0" err="1"/>
              <a:t>mang</a:t>
            </a:r>
            <a:r>
              <a:rPr lang="en-US" sz="6800" dirty="0"/>
              <a:t> </a:t>
            </a:r>
            <a:r>
              <a:rPr lang="en-US" sz="6800" dirty="0" err="1"/>
              <a:t>lại</a:t>
            </a:r>
            <a:r>
              <a:rPr lang="en-US" sz="6800" dirty="0"/>
              <a:t>. </a:t>
            </a:r>
            <a:r>
              <a:rPr lang="en-US" sz="6800" dirty="0" err="1"/>
              <a:t>Cách</a:t>
            </a:r>
            <a:r>
              <a:rPr lang="en-US" sz="6800" dirty="0"/>
              <a:t> </a:t>
            </a:r>
            <a:r>
              <a:rPr lang="en-US" sz="6800" dirty="0" err="1"/>
              <a:t>tiếp</a:t>
            </a:r>
            <a:r>
              <a:rPr lang="en-US" sz="6800" dirty="0"/>
              <a:t> </a:t>
            </a:r>
            <a:r>
              <a:rPr lang="en-US" sz="6800" dirty="0" err="1"/>
              <a:t>cận</a:t>
            </a:r>
            <a:r>
              <a:rPr lang="en-US" sz="6800" dirty="0"/>
              <a:t> </a:t>
            </a:r>
            <a:r>
              <a:rPr lang="en-US" sz="6800" dirty="0" err="1"/>
              <a:t>này</a:t>
            </a:r>
            <a:r>
              <a:rPr lang="en-US" sz="6800" dirty="0"/>
              <a:t> </a:t>
            </a:r>
            <a:r>
              <a:rPr lang="en-US" sz="6800" dirty="0" err="1"/>
              <a:t>phù</a:t>
            </a:r>
            <a:r>
              <a:rPr lang="en-US" sz="6800" dirty="0"/>
              <a:t> </a:t>
            </a:r>
            <a:r>
              <a:rPr lang="en-US" sz="6800" dirty="0" err="1"/>
              <a:t>hợp</a:t>
            </a:r>
            <a:r>
              <a:rPr lang="en-US" sz="6800" dirty="0"/>
              <a:t> </a:t>
            </a:r>
            <a:r>
              <a:rPr lang="en-US" sz="6800" dirty="0" err="1"/>
              <a:t>với</a:t>
            </a:r>
            <a:r>
              <a:rPr lang="en-US" sz="6800" dirty="0"/>
              <a:t> </a:t>
            </a:r>
            <a:r>
              <a:rPr lang="en-US" sz="6800" dirty="0" err="1"/>
              <a:t>yêu</a:t>
            </a:r>
            <a:r>
              <a:rPr lang="en-US" sz="6800" dirty="0"/>
              <a:t> </a:t>
            </a:r>
            <a:r>
              <a:rPr lang="en-US" sz="6800" dirty="0" err="1"/>
              <a:t>cầu</a:t>
            </a:r>
            <a:r>
              <a:rPr lang="en-US" sz="6800" dirty="0"/>
              <a:t> </a:t>
            </a:r>
            <a:r>
              <a:rPr lang="en-US" sz="6800" dirty="0" err="1"/>
              <a:t>thực</a:t>
            </a:r>
            <a:r>
              <a:rPr lang="en-US" sz="6800" dirty="0"/>
              <a:t> </a:t>
            </a:r>
            <a:r>
              <a:rPr lang="en-US" sz="6800" dirty="0" err="1"/>
              <a:t>tiễn</a:t>
            </a:r>
            <a:r>
              <a:rPr lang="en-US" sz="6800" dirty="0"/>
              <a:t> </a:t>
            </a:r>
            <a:r>
              <a:rPr lang="en-US" sz="6800" dirty="0" err="1"/>
              <a:t>của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</a:t>
            </a:r>
            <a:r>
              <a:rPr lang="en-US" sz="6800" dirty="0" err="1"/>
              <a:t>tổ</a:t>
            </a:r>
            <a:r>
              <a:rPr lang="en-US" sz="6800" dirty="0"/>
              <a:t> </a:t>
            </a:r>
            <a:r>
              <a:rPr lang="en-US" sz="6800" dirty="0" err="1"/>
              <a:t>chức</a:t>
            </a:r>
            <a:r>
              <a:rPr lang="en-US" sz="6800" dirty="0"/>
              <a:t> </a:t>
            </a:r>
            <a:r>
              <a:rPr lang="en-US" sz="6800" dirty="0" err="1"/>
              <a:t>tài</a:t>
            </a:r>
            <a:r>
              <a:rPr lang="en-US" sz="6800" dirty="0"/>
              <a:t> </a:t>
            </a:r>
            <a:r>
              <a:rPr lang="en-US" sz="6800" dirty="0" err="1"/>
              <a:t>chính</a:t>
            </a:r>
            <a:r>
              <a:rPr lang="en-US" sz="6800" dirty="0"/>
              <a:t> </a:t>
            </a:r>
            <a:r>
              <a:rPr lang="en-US" sz="6800" dirty="0" err="1"/>
              <a:t>trong</a:t>
            </a:r>
            <a:r>
              <a:rPr lang="en-US" sz="6800" dirty="0"/>
              <a:t> </a:t>
            </a:r>
            <a:r>
              <a:rPr lang="en-US" sz="6800" dirty="0" err="1"/>
              <a:t>việc</a:t>
            </a:r>
            <a:r>
              <a:rPr lang="en-US" sz="6800" dirty="0"/>
              <a:t> </a:t>
            </a:r>
            <a:r>
              <a:rPr lang="en-US" sz="6800" dirty="0" err="1"/>
              <a:t>cân</a:t>
            </a:r>
            <a:r>
              <a:rPr lang="en-US" sz="6800" dirty="0"/>
              <a:t> </a:t>
            </a:r>
            <a:r>
              <a:rPr lang="en-US" sz="6800" dirty="0" err="1"/>
              <a:t>bằng</a:t>
            </a:r>
            <a:r>
              <a:rPr lang="en-US" sz="6800" dirty="0"/>
              <a:t> </a:t>
            </a:r>
            <a:r>
              <a:rPr lang="en-US" sz="6800" dirty="0" err="1"/>
              <a:t>giữa</a:t>
            </a:r>
            <a:r>
              <a:rPr lang="en-US" sz="6800" dirty="0"/>
              <a:t> </a:t>
            </a:r>
            <a:r>
              <a:rPr lang="en-US" sz="6800" dirty="0" err="1"/>
              <a:t>rủi</a:t>
            </a:r>
            <a:r>
              <a:rPr lang="en-US" sz="6800" dirty="0"/>
              <a:t> </a:t>
            </a:r>
            <a:r>
              <a:rPr lang="en-US" sz="6800" dirty="0" err="1"/>
              <a:t>ro</a:t>
            </a:r>
            <a:r>
              <a:rPr lang="en-US" sz="6800" dirty="0"/>
              <a:t> </a:t>
            </a:r>
            <a:r>
              <a:rPr lang="en-US" sz="6800" dirty="0" err="1"/>
              <a:t>và</a:t>
            </a:r>
            <a:r>
              <a:rPr lang="en-US" sz="6800" dirty="0"/>
              <a:t> </a:t>
            </a:r>
            <a:r>
              <a:rPr lang="en-US" sz="6800" dirty="0" err="1"/>
              <a:t>lợi</a:t>
            </a:r>
            <a:r>
              <a:rPr lang="en-US" sz="6800" dirty="0"/>
              <a:t> </a:t>
            </a:r>
            <a:r>
              <a:rPr lang="en-US" sz="6800" dirty="0" err="1"/>
              <a:t>nhuận</a:t>
            </a:r>
            <a:r>
              <a:rPr lang="en-US" sz="6800" dirty="0"/>
              <a:t> [3].</a:t>
            </a:r>
          </a:p>
          <a:p>
            <a:pPr marL="457200" indent="-457200">
              <a:buFontTx/>
              <a:buChar char="-"/>
            </a:pPr>
            <a:r>
              <a:rPr lang="en-US" sz="6800" dirty="0"/>
              <a:t>Trong </a:t>
            </a:r>
            <a:r>
              <a:rPr lang="en-US" sz="6800" dirty="0" err="1"/>
              <a:t>lĩnh</a:t>
            </a:r>
            <a:r>
              <a:rPr lang="en-US" sz="6800" dirty="0"/>
              <a:t> </a:t>
            </a:r>
            <a:r>
              <a:rPr lang="en-US" sz="6800" dirty="0" err="1"/>
              <a:t>vực</a:t>
            </a:r>
            <a:r>
              <a:rPr lang="en-US" sz="6800" dirty="0"/>
              <a:t> </a:t>
            </a:r>
            <a:r>
              <a:rPr lang="en-US" sz="6800" dirty="0" err="1"/>
              <a:t>trích</a:t>
            </a:r>
            <a:r>
              <a:rPr lang="en-US" sz="6800" dirty="0"/>
              <a:t> </a:t>
            </a:r>
            <a:r>
              <a:rPr lang="en-US" sz="6800" dirty="0" err="1"/>
              <a:t>lập</a:t>
            </a:r>
            <a:r>
              <a:rPr lang="en-US" sz="6800" dirty="0"/>
              <a:t> </a:t>
            </a:r>
            <a:r>
              <a:rPr lang="en-US" sz="6800" dirty="0" err="1"/>
              <a:t>dự</a:t>
            </a:r>
            <a:r>
              <a:rPr lang="en-US" sz="6800" dirty="0"/>
              <a:t> </a:t>
            </a:r>
            <a:r>
              <a:rPr lang="en-US" sz="6800" dirty="0" err="1"/>
              <a:t>phòng</a:t>
            </a:r>
            <a:r>
              <a:rPr lang="en-US" sz="6800" dirty="0"/>
              <a:t>, Li et al. (2023) </a:t>
            </a:r>
            <a:r>
              <a:rPr lang="en-US" sz="6800" dirty="0" err="1"/>
              <a:t>đã</a:t>
            </a:r>
            <a:r>
              <a:rPr lang="en-US" sz="6800" dirty="0"/>
              <a:t> </a:t>
            </a:r>
            <a:r>
              <a:rPr lang="en-US" sz="6800" dirty="0" err="1"/>
              <a:t>phát</a:t>
            </a:r>
            <a:r>
              <a:rPr lang="en-US" sz="6800" dirty="0"/>
              <a:t> </a:t>
            </a:r>
            <a:r>
              <a:rPr lang="en-US" sz="6800" dirty="0" err="1"/>
              <a:t>triển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</a:t>
            </a:r>
            <a:r>
              <a:rPr lang="en-US" sz="6800" dirty="0" err="1"/>
              <a:t>dự</a:t>
            </a:r>
            <a:r>
              <a:rPr lang="en-US" sz="6800" dirty="0"/>
              <a:t> </a:t>
            </a:r>
            <a:r>
              <a:rPr lang="en-US" sz="6800" dirty="0" err="1"/>
              <a:t>đoán</a:t>
            </a:r>
            <a:r>
              <a:rPr lang="en-US" sz="6800" dirty="0"/>
              <a:t> </a:t>
            </a:r>
            <a:r>
              <a:rPr lang="en-US" sz="6800" dirty="0" err="1"/>
              <a:t>tổn</a:t>
            </a:r>
            <a:r>
              <a:rPr lang="en-US" sz="6800" dirty="0"/>
              <a:t> </a:t>
            </a:r>
            <a:r>
              <a:rPr lang="en-US" sz="6800" dirty="0" err="1"/>
              <a:t>thất</a:t>
            </a:r>
            <a:r>
              <a:rPr lang="en-US" sz="6800" dirty="0"/>
              <a:t> </a:t>
            </a:r>
            <a:r>
              <a:rPr lang="en-US" sz="6800" dirty="0" err="1"/>
              <a:t>khi</a:t>
            </a:r>
            <a:r>
              <a:rPr lang="en-US" sz="6800" dirty="0"/>
              <a:t> </a:t>
            </a:r>
            <a:r>
              <a:rPr lang="en-US" sz="6800" dirty="0" err="1"/>
              <a:t>nợ</a:t>
            </a:r>
            <a:r>
              <a:rPr lang="en-US" sz="6800" dirty="0"/>
              <a:t> </a:t>
            </a:r>
            <a:r>
              <a:rPr lang="en-US" sz="6800" dirty="0" err="1"/>
              <a:t>xấu</a:t>
            </a:r>
            <a:r>
              <a:rPr lang="en-US" sz="6800" dirty="0"/>
              <a:t> (</a:t>
            </a:r>
            <a:r>
              <a:rPr lang="en-US" sz="6800" b="1" dirty="0"/>
              <a:t>LGD – Loss Given Default</a:t>
            </a:r>
            <a:r>
              <a:rPr lang="en-US" sz="6800" dirty="0"/>
              <a:t>) </a:t>
            </a:r>
            <a:r>
              <a:rPr lang="en-US" sz="6800" dirty="0" err="1"/>
              <a:t>bằng</a:t>
            </a:r>
            <a:r>
              <a:rPr lang="en-US" sz="6800" dirty="0"/>
              <a:t> </a:t>
            </a:r>
            <a:r>
              <a:rPr lang="en-US" sz="6800" dirty="0" err="1"/>
              <a:t>cách</a:t>
            </a:r>
            <a:r>
              <a:rPr lang="en-US" sz="6800" dirty="0"/>
              <a:t> </a:t>
            </a:r>
            <a:r>
              <a:rPr lang="en-US" sz="6800" dirty="0" err="1"/>
              <a:t>khai</a:t>
            </a:r>
            <a:r>
              <a:rPr lang="en-US" sz="6800" dirty="0"/>
              <a:t> </a:t>
            </a:r>
            <a:r>
              <a:rPr lang="en-US" sz="6800" dirty="0" err="1"/>
              <a:t>thác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</a:t>
            </a:r>
            <a:r>
              <a:rPr lang="en-US" sz="6800" dirty="0" err="1"/>
              <a:t>đặc</a:t>
            </a:r>
            <a:r>
              <a:rPr lang="en-US" sz="6800" dirty="0"/>
              <a:t> </a:t>
            </a:r>
            <a:r>
              <a:rPr lang="en-US" sz="6800" dirty="0" err="1"/>
              <a:t>trưng</a:t>
            </a:r>
            <a:r>
              <a:rPr lang="en-US" sz="6800" dirty="0"/>
              <a:t> </a:t>
            </a:r>
            <a:r>
              <a:rPr lang="en-US" sz="6800" dirty="0" err="1"/>
              <a:t>thay</a:t>
            </a:r>
            <a:r>
              <a:rPr lang="en-US" sz="6800" dirty="0"/>
              <a:t> </a:t>
            </a:r>
            <a:r>
              <a:rPr lang="en-US" sz="6800" dirty="0" err="1"/>
              <a:t>đổi</a:t>
            </a:r>
            <a:r>
              <a:rPr lang="en-US" sz="6800" dirty="0"/>
              <a:t> </a:t>
            </a:r>
            <a:r>
              <a:rPr lang="en-US" sz="6800" dirty="0" err="1"/>
              <a:t>theo</a:t>
            </a:r>
            <a:r>
              <a:rPr lang="en-US" sz="6800" dirty="0"/>
              <a:t> </a:t>
            </a:r>
            <a:r>
              <a:rPr lang="en-US" sz="6800" dirty="0" err="1"/>
              <a:t>thời</a:t>
            </a:r>
            <a:r>
              <a:rPr lang="en-US" sz="6800" dirty="0"/>
              <a:t> </a:t>
            </a:r>
            <a:r>
              <a:rPr lang="en-US" sz="6800" dirty="0" err="1"/>
              <a:t>gian</a:t>
            </a:r>
            <a:r>
              <a:rPr lang="en-US" sz="6800" dirty="0"/>
              <a:t> </a:t>
            </a:r>
            <a:r>
              <a:rPr lang="en-US" sz="6800" dirty="0" err="1"/>
              <a:t>với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</a:t>
            </a:r>
            <a:r>
              <a:rPr lang="en-US" sz="6800" dirty="0" err="1"/>
              <a:t>sinh</a:t>
            </a:r>
            <a:r>
              <a:rPr lang="en-US" sz="6800" dirty="0"/>
              <a:t> </a:t>
            </a:r>
            <a:r>
              <a:rPr lang="en-US" sz="6800" dirty="0" err="1"/>
              <a:t>tồn</a:t>
            </a:r>
            <a:r>
              <a:rPr lang="en-US" sz="6800" dirty="0"/>
              <a:t>. </a:t>
            </a:r>
            <a:r>
              <a:rPr lang="en-US" sz="6800" dirty="0" err="1"/>
              <a:t>Kết</a:t>
            </a:r>
            <a:r>
              <a:rPr lang="en-US" sz="6800" dirty="0"/>
              <a:t> </a:t>
            </a:r>
            <a:r>
              <a:rPr lang="en-US" sz="6800" dirty="0" err="1"/>
              <a:t>quả</a:t>
            </a:r>
            <a:r>
              <a:rPr lang="en-US" sz="6800" dirty="0"/>
              <a:t> </a:t>
            </a:r>
            <a:r>
              <a:rPr lang="en-US" sz="6800" dirty="0" err="1"/>
              <a:t>cho</a:t>
            </a:r>
            <a:r>
              <a:rPr lang="en-US" sz="6800" dirty="0"/>
              <a:t> </a:t>
            </a:r>
            <a:r>
              <a:rPr lang="en-US" sz="6800" dirty="0" err="1"/>
              <a:t>thấy</a:t>
            </a:r>
            <a:r>
              <a:rPr lang="en-US" sz="6800" dirty="0"/>
              <a:t> </a:t>
            </a:r>
            <a:r>
              <a:rPr lang="en-US" sz="6800" dirty="0" err="1"/>
              <a:t>phương</a:t>
            </a:r>
            <a:r>
              <a:rPr lang="en-US" sz="6800" dirty="0"/>
              <a:t> </a:t>
            </a:r>
            <a:r>
              <a:rPr lang="en-US" sz="6800" dirty="0" err="1"/>
              <a:t>pháp</a:t>
            </a:r>
            <a:r>
              <a:rPr lang="en-US" sz="6800" dirty="0"/>
              <a:t> </a:t>
            </a:r>
            <a:r>
              <a:rPr lang="en-US" sz="6800" dirty="0" err="1"/>
              <a:t>này</a:t>
            </a:r>
            <a:r>
              <a:rPr lang="en-US" sz="6800" dirty="0"/>
              <a:t> </a:t>
            </a:r>
            <a:r>
              <a:rPr lang="en-US" sz="6800" dirty="0" err="1"/>
              <a:t>mang</a:t>
            </a:r>
            <a:r>
              <a:rPr lang="en-US" sz="6800" dirty="0"/>
              <a:t> </a:t>
            </a:r>
            <a:r>
              <a:rPr lang="en-US" sz="6800" dirty="0" err="1"/>
              <a:t>lại</a:t>
            </a:r>
            <a:r>
              <a:rPr lang="en-US" sz="6800" dirty="0"/>
              <a:t> </a:t>
            </a:r>
            <a:r>
              <a:rPr lang="en-US" sz="6800" dirty="0" err="1"/>
              <a:t>độ</a:t>
            </a:r>
            <a:r>
              <a:rPr lang="en-US" sz="6800" dirty="0"/>
              <a:t> </a:t>
            </a:r>
            <a:r>
              <a:rPr lang="en-US" sz="6800" dirty="0" err="1"/>
              <a:t>chính</a:t>
            </a:r>
            <a:r>
              <a:rPr lang="en-US" sz="6800" dirty="0"/>
              <a:t> </a:t>
            </a:r>
            <a:r>
              <a:rPr lang="en-US" sz="6800" dirty="0" err="1"/>
              <a:t>xác</a:t>
            </a:r>
            <a:r>
              <a:rPr lang="en-US" sz="6800" dirty="0"/>
              <a:t> </a:t>
            </a:r>
            <a:r>
              <a:rPr lang="en-US" sz="6800" dirty="0" err="1"/>
              <a:t>cao</a:t>
            </a:r>
            <a:r>
              <a:rPr lang="en-US" sz="6800" dirty="0"/>
              <a:t> </a:t>
            </a:r>
            <a:r>
              <a:rPr lang="en-US" sz="6800" dirty="0" err="1"/>
              <a:t>hơn</a:t>
            </a:r>
            <a:r>
              <a:rPr lang="en-US" sz="6800" dirty="0"/>
              <a:t> so </a:t>
            </a:r>
            <a:r>
              <a:rPr lang="en-US" sz="6800" dirty="0" err="1"/>
              <a:t>với</a:t>
            </a:r>
            <a:r>
              <a:rPr lang="en-US" sz="6800" dirty="0"/>
              <a:t> </a:t>
            </a:r>
            <a:r>
              <a:rPr lang="en-US" sz="6800" dirty="0" err="1"/>
              <a:t>các</a:t>
            </a:r>
            <a:r>
              <a:rPr lang="en-US" sz="6800" dirty="0"/>
              <a:t> </a:t>
            </a:r>
            <a:r>
              <a:rPr lang="en-US" sz="6800" dirty="0" err="1"/>
              <a:t>mô</a:t>
            </a:r>
            <a:r>
              <a:rPr lang="en-US" sz="6800" dirty="0"/>
              <a:t> </a:t>
            </a:r>
            <a:r>
              <a:rPr lang="en-US" sz="6800" dirty="0" err="1"/>
              <a:t>hình</a:t>
            </a:r>
            <a:r>
              <a:rPr lang="en-US" sz="6800" dirty="0"/>
              <a:t> LGD </a:t>
            </a:r>
            <a:r>
              <a:rPr lang="en-US" sz="6800" dirty="0" err="1"/>
              <a:t>truyền</a:t>
            </a:r>
            <a:r>
              <a:rPr lang="en-US" sz="6800" dirty="0"/>
              <a:t> </a:t>
            </a:r>
            <a:r>
              <a:rPr lang="en-US" sz="6800" dirty="0" err="1"/>
              <a:t>thống</a:t>
            </a:r>
            <a:r>
              <a:rPr lang="en-US" sz="6800" dirty="0"/>
              <a:t> [4].</a:t>
            </a:r>
            <a:r>
              <a:rPr lang="en-VN" sz="6800" dirty="0"/>
              <a:t> </a:t>
            </a:r>
          </a:p>
          <a:p>
            <a:pPr marL="457200" indent="-457200">
              <a:buFontTx/>
              <a:buChar char="-"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6087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DB16-F859-5AFA-CD34-060ADC7E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331475"/>
            <a:ext cx="9779183" cy="1142243"/>
          </a:xfrm>
        </p:spPr>
        <p:txBody>
          <a:bodyPr/>
          <a:lstStyle/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nghị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4F8A-3A3F-3F90-819D-F9C81991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3" y="1670626"/>
            <a:ext cx="9779182" cy="4194146"/>
          </a:xfrm>
        </p:spPr>
        <p:txBody>
          <a:bodyPr>
            <a:normAutofit/>
          </a:bodyPr>
          <a:lstStyle/>
          <a:p>
            <a:pPr lvl="0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tiền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lang="en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2: 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(PD)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LightGBM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XGBoost</a:t>
            </a:r>
            <a:endParaRPr lang="en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3: Qui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chuẩn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300 – 850. [5]</a:t>
            </a:r>
            <a:endParaRPr lang="en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4: Qui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vọng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 (Expected Loss) [6] </a:t>
            </a:r>
            <a:endParaRPr lang="en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theo.</a:t>
            </a: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88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0A9A-B507-E858-9CDB-854F9377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34" y="130220"/>
            <a:ext cx="9779183" cy="1456724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Lựa chọn đặc trưng</a:t>
            </a:r>
          </a:p>
        </p:txBody>
      </p:sp>
      <p:pic>
        <p:nvPicPr>
          <p:cNvPr id="6" name="Picture 5" descr="A close up of some words&#10;&#10;AI-generated content may be incorrect.">
            <a:extLst>
              <a:ext uri="{FF2B5EF4-FFF2-40B4-BE49-F238E27FC236}">
                <a16:creationId xmlns:a16="http://schemas.microsoft.com/office/drawing/2014/main" id="{8CB8074B-54B6-5B5D-B537-31A43DDCA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98" y="2049108"/>
            <a:ext cx="4238276" cy="1645561"/>
          </a:xfrm>
          <a:prstGeom prst="rect">
            <a:avLst/>
          </a:prstGeom>
        </p:spPr>
      </p:pic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0EE1222-2874-E545-9987-76F0DC880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41976"/>
            <a:ext cx="5125235" cy="1645561"/>
          </a:xfrm>
          <a:prstGeom prst="rect">
            <a:avLst/>
          </a:prstGeom>
        </p:spPr>
      </p:pic>
      <p:pic>
        <p:nvPicPr>
          <p:cNvPr id="10" name="Picture 9" descr="A close-up of some words&#10;&#10;AI-generated content may be incorrect.">
            <a:extLst>
              <a:ext uri="{FF2B5EF4-FFF2-40B4-BE49-F238E27FC236}">
                <a16:creationId xmlns:a16="http://schemas.microsoft.com/office/drawing/2014/main" id="{5104B02F-8786-0AE0-D78B-CD778F504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797" y="3967998"/>
            <a:ext cx="4479739" cy="2235094"/>
          </a:xfrm>
          <a:prstGeom prst="rect">
            <a:avLst/>
          </a:prstGeom>
        </p:spPr>
      </p:pic>
      <p:pic>
        <p:nvPicPr>
          <p:cNvPr id="12" name="Picture 11" descr="A close up of words&#10;&#10;AI-generated content may be incorrect.">
            <a:extLst>
              <a:ext uri="{FF2B5EF4-FFF2-40B4-BE49-F238E27FC236}">
                <a16:creationId xmlns:a16="http://schemas.microsoft.com/office/drawing/2014/main" id="{10A24E3F-06FC-9F95-5C77-3F4183E46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60866"/>
            <a:ext cx="5284573" cy="89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5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D95F-9BC7-284E-D410-A3CF4BEE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687" y="139190"/>
            <a:ext cx="10231829" cy="1334528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 đổi xác suất thành điểm tín dụng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2102-356A-1A76-75A6-296420063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sang thang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(300 – 850)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log-odds </a:t>
            </a:r>
            <a:endParaRPr lang="en-VN" dirty="0"/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6FDA6281-7E2D-C0C9-624D-07E69560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53" y="2868656"/>
            <a:ext cx="75057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9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D708-AC84-F942-1C0D-73CAC1C9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126124"/>
            <a:ext cx="9779183" cy="1541636"/>
          </a:xfrm>
        </p:spPr>
        <p:txBody>
          <a:bodyPr/>
          <a:lstStyle/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vọng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 (Expected Loss)</a:t>
            </a:r>
            <a:r>
              <a:rPr lang="en-V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V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BE4A-D6A2-907C-6966-AEAB90FB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256" y="3908812"/>
            <a:ext cx="9779182" cy="1541636"/>
          </a:xfrm>
        </p:spPr>
        <p:txBody>
          <a:bodyPr/>
          <a:lstStyle/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dồn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quý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mức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trích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(PCL)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kỳ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theo.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giúp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rủi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chủ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bổ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nguồn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vốn</a:t>
            </a:r>
            <a:r>
              <a:rPr lang="en-V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endParaRPr lang="en-VN" dirty="0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B3A8C3A-10EE-3017-4B20-9CAB46CA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735" y="1829436"/>
            <a:ext cx="63500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6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0A97-06B3-4966-2255-BAE3C7089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126123"/>
            <a:ext cx="9779183" cy="1226326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 nghiệm và đánh giá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C737B-0100-FF67-178C-FD374D3DB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74220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(Accuracy)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(~92%),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Precision, Recall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F1-score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mất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cân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nhãn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nghiêm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trọng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(TARGET = 0).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hầu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hết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0,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dẫn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Recall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LightGBM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AUC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cao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(0.6895)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thấy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biệt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xấu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LightGBM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bước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theo.</a:t>
            </a: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0045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A812-31B7-7C0F-350E-79CBAE09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943E-69F2-9FBF-2722-A9507DEE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126123"/>
            <a:ext cx="9779183" cy="1226326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 nghiệm và đánh giá (tt)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B7E0F-507F-121B-4072-98A9D4DD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1535554"/>
            <a:ext cx="9779182" cy="923441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mô hình được huấn luyện bao gồm: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</a:t>
            </a: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Regression,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LightGBM</a:t>
            </a:r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XGBoost</a:t>
            </a:r>
          </a:p>
          <a:p>
            <a:endParaRPr lang="en-VN" dirty="0"/>
          </a:p>
          <a:p>
            <a:endParaRPr lang="en-VN" dirty="0"/>
          </a:p>
        </p:txBody>
      </p:sp>
      <p:pic>
        <p:nvPicPr>
          <p:cNvPr id="7" name="Picture 6" descr="A black and white text with numbers&#10;&#10;AI-generated content may be incorrect.">
            <a:extLst>
              <a:ext uri="{FF2B5EF4-FFF2-40B4-BE49-F238E27FC236}">
                <a16:creationId xmlns:a16="http://schemas.microsoft.com/office/drawing/2014/main" id="{92E9EB75-28F6-91BE-6EA6-8DF6CE2C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28" y="2649486"/>
            <a:ext cx="5853504" cy="1421027"/>
          </a:xfrm>
          <a:prstGeom prst="rect">
            <a:avLst/>
          </a:prstGeom>
        </p:spPr>
      </p:pic>
      <p:pic>
        <p:nvPicPr>
          <p:cNvPr id="8" name="Picture 7" descr="A graph of a logistic curve&#10;&#10;AI-generated content may be incorrect.">
            <a:extLst>
              <a:ext uri="{FF2B5EF4-FFF2-40B4-BE49-F238E27FC236}">
                <a16:creationId xmlns:a16="http://schemas.microsoft.com/office/drawing/2014/main" id="{4CB0E1D7-F9A8-5262-29A9-B20272E06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332" y="1968961"/>
            <a:ext cx="4971738" cy="37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5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2FB-EAE0-C4DF-3C16-2A2F779CF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189186"/>
            <a:ext cx="9779183" cy="1142243"/>
          </a:xfrm>
        </p:spPr>
        <p:txBody>
          <a:bodyPr/>
          <a:lstStyle/>
          <a:p>
            <a:r>
              <a:rPr lang="en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Cài đặt mô hình (Code demo)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0F7DE-31B6-4DEB-C67A-51CFE0A5B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u="sng" dirty="0">
                <a:hlinkClick r:id="rId2"/>
              </a:rPr>
              <a:t>https://github.com/buuhq-it/uit-msc-data-analyst-assignments/tree/main/hw-final/code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343069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1C86-942A-03B8-FAD4-EE3330E8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178676"/>
            <a:ext cx="9779183" cy="1184284"/>
          </a:xfrm>
        </p:spPr>
        <p:txBody>
          <a:bodyPr/>
          <a:lstStyle/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Tài liệu tham khảo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2F58E-501B-3E73-3AC6-E7F71F581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1460419"/>
            <a:ext cx="9779182" cy="425720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[1]	A. Montoya, inversion, </a:t>
            </a:r>
            <a:r>
              <a:rPr lang="en-US" dirty="0" err="1"/>
              <a:t>KirillOdintsov</a:t>
            </a:r>
            <a:r>
              <a:rPr lang="en-US" dirty="0"/>
              <a:t>, and M. Kotek, “Home Credit Default Risk.” 2018. [Online]. Available: https://</a:t>
            </a:r>
            <a:r>
              <a:rPr lang="en-US" dirty="0" err="1"/>
              <a:t>kaggle.com</a:t>
            </a:r>
            <a:r>
              <a:rPr lang="en-US" dirty="0"/>
              <a:t>/competitions/home-credit-default-risk</a:t>
            </a:r>
            <a:endParaRPr lang="en-VN" dirty="0"/>
          </a:p>
          <a:p>
            <a:r>
              <a:rPr lang="en-US" dirty="0"/>
              <a:t>[2]	A. Markov, Z. </a:t>
            </a:r>
            <a:r>
              <a:rPr lang="en-US" dirty="0" err="1"/>
              <a:t>Seleznyova</a:t>
            </a:r>
            <a:r>
              <a:rPr lang="en-US" dirty="0"/>
              <a:t>, and V. Lapshin, “Credit scoring methods: Latest trends and points to consider,” </a:t>
            </a:r>
            <a:r>
              <a:rPr lang="en-US" i="1" dirty="0"/>
              <a:t>J. Finance Data Sci.</a:t>
            </a:r>
            <a:r>
              <a:rPr lang="en-US" dirty="0"/>
              <a:t>, vol. 8, pp. 180–201, Nov. 2022, </a:t>
            </a:r>
            <a:r>
              <a:rPr lang="en-US" dirty="0" err="1"/>
              <a:t>doi</a:t>
            </a:r>
            <a:r>
              <a:rPr lang="en-US" dirty="0"/>
              <a:t>: 10.1016/j.jfds.2022.07.002.</a:t>
            </a:r>
            <a:endParaRPr lang="en-VN" dirty="0"/>
          </a:p>
          <a:p>
            <a:r>
              <a:rPr lang="en-US" dirty="0"/>
              <a:t>[3]	H. </a:t>
            </a:r>
            <a:r>
              <a:rPr lang="en-US" dirty="0" err="1"/>
              <a:t>Mohammadnejad</a:t>
            </a:r>
            <a:r>
              <a:rPr lang="en-US" dirty="0"/>
              <a:t>-Daryani, A. A. </a:t>
            </a:r>
            <a:r>
              <a:rPr lang="en-US" dirty="0" err="1"/>
              <a:t>Taleizadeh</a:t>
            </a:r>
            <a:r>
              <a:rPr lang="en-US" dirty="0"/>
              <a:t>, and D. </a:t>
            </a:r>
            <a:r>
              <a:rPr lang="en-US" dirty="0" err="1"/>
              <a:t>Pamucar</a:t>
            </a:r>
            <a:r>
              <a:rPr lang="en-US" dirty="0"/>
              <a:t>, “A novel profit-driven framework for model evaluation in credit scoring,” </a:t>
            </a:r>
            <a:r>
              <a:rPr lang="en-US" i="1" dirty="0"/>
              <a:t>Eng. Appl. </a:t>
            </a:r>
            <a:r>
              <a:rPr lang="en-US" i="1" dirty="0" err="1"/>
              <a:t>Artif</a:t>
            </a:r>
            <a:r>
              <a:rPr lang="en-US" i="1" dirty="0"/>
              <a:t>. </a:t>
            </a:r>
            <a:r>
              <a:rPr lang="en-US" i="1" dirty="0" err="1"/>
              <a:t>Intell</a:t>
            </a:r>
            <a:r>
              <a:rPr lang="en-US" i="1" dirty="0"/>
              <a:t>.</a:t>
            </a:r>
            <a:r>
              <a:rPr lang="en-US" dirty="0"/>
              <a:t>, vol. 137, p. 109137, Nov. 2024, </a:t>
            </a:r>
            <a:r>
              <a:rPr lang="en-US" dirty="0" err="1"/>
              <a:t>doi</a:t>
            </a:r>
            <a:r>
              <a:rPr lang="en-US" dirty="0"/>
              <a:t>: 10.1016/j.engappai.2024.109137.</a:t>
            </a:r>
            <a:endParaRPr lang="en-VN" dirty="0"/>
          </a:p>
          <a:p>
            <a:r>
              <a:rPr lang="en-US" dirty="0"/>
              <a:t>[4]	A. Li, Z. Li, and A. Bellotti, “Predicting loss given default of unsecured consumer loans with time-varying survival scores,” </a:t>
            </a:r>
            <a:r>
              <a:rPr lang="en-US" i="1" dirty="0"/>
              <a:t>Pac.-Basin Finance J.</a:t>
            </a:r>
            <a:r>
              <a:rPr lang="en-US" dirty="0"/>
              <a:t>, vol. 78, p. 101949, Apr. 2023, </a:t>
            </a:r>
            <a:r>
              <a:rPr lang="en-US" dirty="0" err="1"/>
              <a:t>doi</a:t>
            </a:r>
            <a:r>
              <a:rPr lang="en-US" dirty="0"/>
              <a:t>: 10.1016/j.pacfin.2023.101949.</a:t>
            </a:r>
            <a:endParaRPr lang="en-VN" dirty="0"/>
          </a:p>
          <a:p>
            <a:r>
              <a:rPr lang="en-US" dirty="0"/>
              <a:t>[5] N. Siddiqi, </a:t>
            </a:r>
            <a:r>
              <a:rPr lang="en-US" i="1" dirty="0"/>
              <a:t>Intelligent Credit Scoring: Building and Implementing Better Credit Risk Scorecards</a:t>
            </a:r>
            <a:r>
              <a:rPr lang="en-US" dirty="0"/>
              <a:t>, 2nd ed., Hoboken, NJ, USA: Wiley, 2017.</a:t>
            </a:r>
            <a:endParaRPr lang="en-VN" dirty="0"/>
          </a:p>
          <a:p>
            <a:r>
              <a:rPr lang="en-US" dirty="0"/>
              <a:t>[6] Basel Committee on Banking Supervision, </a:t>
            </a:r>
            <a:r>
              <a:rPr lang="en-US" i="1" dirty="0"/>
              <a:t>Basel III: A global regulatory framework for more resilient banks and banking systems</a:t>
            </a:r>
            <a:r>
              <a:rPr lang="en-US" dirty="0"/>
              <a:t>, Bank for International Settlements, Jun. 2011 (rev. 2013). [Online]. Available: </a:t>
            </a:r>
            <a:r>
              <a:rPr lang="en-US" u="sng" dirty="0">
                <a:hlinkClick r:id="rId2"/>
              </a:rPr>
              <a:t>https://www.bis.org/publ/bcbs189.htm</a:t>
            </a:r>
            <a:endParaRPr lang="en-VN" dirty="0"/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38074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956" y="883169"/>
            <a:ext cx="6725775" cy="3262811"/>
          </a:xfrm>
        </p:spPr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lắng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{6B7AE243-E6F4-4F6F-8F17-189F3E5E31FB}TF0e83fa2d-9a66-4e5e-9e82-acc620be7a498e277179_win32-f234380521c6</Template>
  <TotalTime>83</TotalTime>
  <Words>1376</Words>
  <Application>Microsoft Macintosh PowerPoint</Application>
  <PresentationFormat>Widescreen</PresentationFormat>
  <Paragraphs>56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Tahoma</vt:lpstr>
      <vt:lpstr>Tenorite</vt:lpstr>
      <vt:lpstr>Times New Roman</vt:lpstr>
      <vt:lpstr>Custom</vt:lpstr>
      <vt:lpstr>Xây dựng hệ thống  dự đoán điểm tín dụng và  ước lượng trích lập dự phòng dựa trên dữ liệu khách hàng  vay tiêu dùng</vt:lpstr>
      <vt:lpstr>Agenda</vt:lpstr>
      <vt:lpstr>Tóm tắt</vt:lpstr>
      <vt:lpstr>Giới thiệu</vt:lpstr>
      <vt:lpstr>Các nghiên cứu có liên quan</vt:lpstr>
      <vt:lpstr>Phương pháp đề nghị</vt:lpstr>
      <vt:lpstr>Lựa chọn đặc trưng</vt:lpstr>
      <vt:lpstr>Qui đổi xác suất thành điểm tín dụng</vt:lpstr>
      <vt:lpstr>Qui đổi xác suất thành giá trị  tổn thất kỳ vọng EL (Expected Loss) </vt:lpstr>
      <vt:lpstr>Thực nghiệm và đánh giá</vt:lpstr>
      <vt:lpstr>Thực nghiệm và đánh giá (tt)</vt:lpstr>
      <vt:lpstr>Cài đặt mô hình (Code demo)</vt:lpstr>
      <vt:lpstr>Tài liệu tham khảo</vt:lpstr>
      <vt:lpstr>Cám ơn thầy  và các bạn 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 HUYNH</dc:creator>
  <cp:lastModifiedBy>Buu Huynh Quoc &lt;FICO&gt;</cp:lastModifiedBy>
  <cp:revision>10</cp:revision>
  <dcterms:created xsi:type="dcterms:W3CDTF">2025-07-09T15:45:07Z</dcterms:created>
  <dcterms:modified xsi:type="dcterms:W3CDTF">2025-07-10T00:06:47Z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